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7315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  <a:latin typeface="Noto Sans CJK KR"/>
              </a:rPr>
              <a:t>블로거 분석 — ranto28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FFFFF"/>
                </a:solidFill>
                <a:latin typeface="Noto Sans CJK KR"/>
              </a:rPr>
              <a:t>메르 — 미국국채 10년물 5% 돌파 3부작 (바이백 금리발작·8월 CPI와 9월 FOMC·10년물 금리 산수)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1148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원문: https://blog.naver.com/ranto28/224412030235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720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E3F2FD"/>
                </a:solidFill>
                <a:latin typeface="Noto Sans CJK KR"/>
              </a:rPr>
              <a:t>발행일: 2026-09-16 | 분석 종목: 5 | 13명 페르소나 + 4-Analyst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Top 3: 🥇 SGOV iShare HOLD (+0.27) | 🥈 453850.KS ACE 미국 HOLD (-0.14) | 🥉 TIP iShare HOLD (+0.13)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블로거 핵심 Thesis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566160" cy="54864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1. T01 (core)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미국채 10년물 금리는 '장기 인플레이션 + 중립금리 + 텀프리미엄(+α)'로 근사할 수 있다. 2023년엔 중립금리+텀프리미엄을 2%p로 보고 장기인플레 2.6%를 더해 상한 4.6%를 제시했으나, 현재는 중립금리 1.1% + 텀프리미엄 1.5% = 2.6%p로 올라 장기인플레 2%중반을 더하면 10년물 5% 초과가 자연스럽다.</a:t>
            </a:r>
          </a:p>
        </p:txBody>
      </p:sp>
      <p:sp>
        <p:nvSpPr>
          <p:cNvPr id="7" name="Rectangle 6"/>
          <p:cNvSpPr/>
          <p:nvPr/>
        </p:nvSpPr>
        <p:spPr>
          <a:xfrm>
            <a:off x="4297680" y="914400"/>
            <a:ext cx="3566160" cy="5486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8056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2. T03 (core)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8056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재무부 바이백은 단기채(T-bill)를 발행해 헌 장기채를 되사는 만기 스왑일 뿐 부채총량·재정적자를 바꾸지 못하므로('신용카드로 주담대 갚기'), 장기금리를 잡지 못하고 오르는 속도만 늦춘다. 오히려 부채구조 단기화로 텀프리미엄 상승을 부른다.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138160" y="914400"/>
            <a:ext cx="3566160" cy="54864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1005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FFFFFF"/>
                </a:solidFill>
                <a:latin typeface="Noto Sans CJK KR"/>
              </a:rPr>
              <a:t>3. T06 (core)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321040" y="1645920"/>
            <a:ext cx="32918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212121"/>
                </a:solidFill>
                <a:latin typeface="Noto Sans CJK KR"/>
              </a:rPr>
              <a:t>장기금리를 밀어올리는 근본 원인은 인플레이션과 재정적자로 인한 국채 공급 폭증이며, 둘 다 재무부가 통제할 수 없다. 트럼프의 '$5,000 배당금'(성인 2.6억명×$5천=1.3조달러) 공약은 적자 확대 우려를 더한다.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5486400"/>
            <a:ext cx="11247120" cy="8229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" y="557784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💡 한 줄 요약: 메르 미국채 3편 — 재무부 바이백($60억)은 만기 스왑이라 장기금리를 못 잡고, 인플레(유가 $100·Core PPI 4.6%·근원 CPI 0.3%)와 재정적자가 근본 원인이며 9월 FOMC는 인상 쪽으로 기울었다. 10년물 ≈ 장기인플레 + 2.6%p(중립 1.1 + TP 1.5)라 5% 초과는 자연스럽고, 연준 레드라인 5%~5.1%에서 매수를 검토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Top 3 Picks (signal 절대값 기준)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2588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SGOV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iShares 미국채 0-3개월 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+0.27 · 신뢰도 60%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9436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8 / 중립 6 / 매도 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Bond ETF (US T-Bill 0-3M)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436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[SGOV] 재투자 위험 (금리 인하 전환)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8912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2628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57800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453850.KS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57800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ACE 미국30년국채액티브(H)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8912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0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-0.14 · 신뢰도 57%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38912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2628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3 / 중립 8 / 매도 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2628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Bond ETF (US Treasury 30Y · KR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2628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[453850.KS] 환헤지 비용 상승 (한미 단기금리차 재확대)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321040" y="914400"/>
            <a:ext cx="3657600" cy="640080"/>
          </a:xfrm>
          <a:prstGeom prst="rect">
            <a:avLst/>
          </a:prstGeom>
          <a:solidFill>
            <a:srgbClr val="EF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58200" y="96012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FFFFFF"/>
                </a:solidFill>
                <a:latin typeface="Noto Sans CJK KR"/>
              </a:rPr>
              <a:t>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189719" y="91440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FFFFFF"/>
                </a:solidFill>
                <a:latin typeface="Noto Sans CJK KR"/>
              </a:rPr>
              <a:t>TIP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89719" y="128016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FFFFF"/>
                </a:solidFill>
                <a:latin typeface="Noto Sans CJK KR"/>
              </a:rPr>
              <a:t>iShares 미국 물가연동국채(</a:t>
            </a:r>
          </a:p>
        </p:txBody>
      </p:sp>
      <p:sp>
        <p:nvSpPr>
          <p:cNvPr id="28" name="Rectangle 27"/>
          <p:cNvSpPr/>
          <p:nvPr/>
        </p:nvSpPr>
        <p:spPr>
          <a:xfrm>
            <a:off x="8321040" y="1554480"/>
            <a:ext cx="365760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503919" y="1600200"/>
            <a:ext cx="3291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0D47A1"/>
                </a:solidFill>
                <a:latin typeface="Noto Sans CJK KR"/>
              </a:rPr>
              <a:t>HOLD · Signal +0.13 · 신뢰도 56%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321040" y="2011680"/>
            <a:ext cx="3657600" cy="33832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458200" y="210312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212121"/>
                </a:solidFill>
                <a:latin typeface="Noto Sans CJK KR"/>
              </a:rPr>
              <a:t>매수 6 / 중립 7 / 매도 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458200" y="24688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666666"/>
                </a:solidFill>
                <a:latin typeface="Noto Sans CJK KR"/>
              </a:rPr>
              <a:t>Sector: Bond ETF (US TIPS)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58200" y="2926080"/>
            <a:ext cx="338328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핵심 risk:
[TIP] 연준 인상 연장 → 실질금리 3%+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57200" y="5943600"/>
            <a:ext cx="11247120" cy="45720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0D47A1"/>
                </a:solidFill>
                <a:latin typeface="Noto Sans CJK KR"/>
              </a:rPr>
              <a:t>📊 Layer 1 (per-stock 44p PDF)에 페르소나별 reasoning 상세 포함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전체 5종목 Verdict 종합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914400"/>
            <a:ext cx="457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960120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#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914400"/>
            <a:ext cx="13716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960120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Ticker</a:t>
            </a:r>
          </a:p>
        </p:txBody>
      </p:sp>
      <p:sp>
        <p:nvSpPr>
          <p:cNvPr id="8" name="Rectangle 7"/>
          <p:cNvSpPr/>
          <p:nvPr/>
        </p:nvSpPr>
        <p:spPr>
          <a:xfrm>
            <a:off x="2286000" y="914400"/>
            <a:ext cx="21031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331720" y="960120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종목명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89120" y="914400"/>
            <a:ext cx="274320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34840" y="960120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Sector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13232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17804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Bull/Neu/Bear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914400"/>
            <a:ext cx="73152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641080" y="960120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Conf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326880" y="914400"/>
            <a:ext cx="109728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72600" y="960120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Action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0424160" y="914400"/>
            <a:ext cx="1463040" cy="365760"/>
          </a:xfrm>
          <a:prstGeom prst="rect">
            <a:avLst/>
          </a:prstGeom>
          <a:solidFill>
            <a:srgbClr val="1565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0469880" y="96012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  <a:latin typeface="Noto Sans CJK KR"/>
              </a:rPr>
              <a:t>Signal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132588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38074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1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" y="132588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60120" y="138074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453850.KS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286000" y="132588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331720" y="138074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ACE 미국30년국채액티브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389120" y="132588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434840" y="138074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Bond ETF (US Treasury 30Y · KR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13232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3/8/6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595360" y="132588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641080" y="138074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57%</a:t>
            </a:r>
          </a:p>
        </p:txBody>
      </p:sp>
      <p:sp>
        <p:nvSpPr>
          <p:cNvPr id="32" name="Rectangle 31"/>
          <p:cNvSpPr/>
          <p:nvPr/>
        </p:nvSpPr>
        <p:spPr>
          <a:xfrm>
            <a:off x="9326880" y="132588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9372600" y="138074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0424160" y="132588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469880" y="138074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-0.14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57200" y="173736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79222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2</a:t>
            </a:r>
          </a:p>
        </p:txBody>
      </p:sp>
      <p:sp>
        <p:nvSpPr>
          <p:cNvPr id="38" name="Rectangle 37"/>
          <p:cNvSpPr/>
          <p:nvPr/>
        </p:nvSpPr>
        <p:spPr>
          <a:xfrm>
            <a:off x="914400" y="173736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960120" y="179222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IEF</a:t>
            </a:r>
          </a:p>
        </p:txBody>
      </p:sp>
      <p:sp>
        <p:nvSpPr>
          <p:cNvPr id="40" name="Rectangle 39"/>
          <p:cNvSpPr/>
          <p:nvPr/>
        </p:nvSpPr>
        <p:spPr>
          <a:xfrm>
            <a:off x="2286000" y="173736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2331720" y="179222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iShares 미국채 7-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389120" y="173736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434840" y="179222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Bond ETF (US Treasury 7-10Y)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13232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17804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4/7/6</a:t>
            </a:r>
          </a:p>
        </p:txBody>
      </p:sp>
      <p:sp>
        <p:nvSpPr>
          <p:cNvPr id="46" name="Rectangle 45"/>
          <p:cNvSpPr/>
          <p:nvPr/>
        </p:nvSpPr>
        <p:spPr>
          <a:xfrm>
            <a:off x="8595360" y="173736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8641080" y="179222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56%</a:t>
            </a:r>
          </a:p>
        </p:txBody>
      </p:sp>
      <p:sp>
        <p:nvSpPr>
          <p:cNvPr id="48" name="Rectangle 47"/>
          <p:cNvSpPr/>
          <p:nvPr/>
        </p:nvSpPr>
        <p:spPr>
          <a:xfrm>
            <a:off x="9326880" y="173736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372600" y="179222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50" name="Rectangle 49"/>
          <p:cNvSpPr/>
          <p:nvPr/>
        </p:nvSpPr>
        <p:spPr>
          <a:xfrm>
            <a:off x="10424160" y="173736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TextBox 50"/>
          <p:cNvSpPr txBox="1"/>
          <p:nvPr/>
        </p:nvSpPr>
        <p:spPr>
          <a:xfrm>
            <a:off x="10469880" y="179222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-0.10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57200" y="214884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502920" y="220370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3</a:t>
            </a:r>
          </a:p>
        </p:txBody>
      </p:sp>
      <p:sp>
        <p:nvSpPr>
          <p:cNvPr id="54" name="Rectangle 53"/>
          <p:cNvSpPr/>
          <p:nvPr/>
        </p:nvSpPr>
        <p:spPr>
          <a:xfrm>
            <a:off x="914400" y="214884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960120" y="220370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SGOV</a:t>
            </a:r>
          </a:p>
        </p:txBody>
      </p:sp>
      <p:sp>
        <p:nvSpPr>
          <p:cNvPr id="56" name="Rectangle 55"/>
          <p:cNvSpPr/>
          <p:nvPr/>
        </p:nvSpPr>
        <p:spPr>
          <a:xfrm>
            <a:off x="2286000" y="214884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2331720" y="220370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iShares 미국채 0-</a:t>
            </a:r>
          </a:p>
        </p:txBody>
      </p:sp>
      <p:sp>
        <p:nvSpPr>
          <p:cNvPr id="58" name="Rectangle 57"/>
          <p:cNvSpPr/>
          <p:nvPr/>
        </p:nvSpPr>
        <p:spPr>
          <a:xfrm>
            <a:off x="4389120" y="214884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4434840" y="220370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Bond ETF (US T-Bill 0-3M)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713232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717804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8/6/3</a:t>
            </a:r>
          </a:p>
        </p:txBody>
      </p:sp>
      <p:sp>
        <p:nvSpPr>
          <p:cNvPr id="62" name="Rectangle 61"/>
          <p:cNvSpPr/>
          <p:nvPr/>
        </p:nvSpPr>
        <p:spPr>
          <a:xfrm>
            <a:off x="8595360" y="214884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641080" y="220370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60%</a:t>
            </a:r>
          </a:p>
        </p:txBody>
      </p:sp>
      <p:sp>
        <p:nvSpPr>
          <p:cNvPr id="64" name="Rectangle 63"/>
          <p:cNvSpPr/>
          <p:nvPr/>
        </p:nvSpPr>
        <p:spPr>
          <a:xfrm>
            <a:off x="9326880" y="214884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TextBox 64"/>
          <p:cNvSpPr txBox="1"/>
          <p:nvPr/>
        </p:nvSpPr>
        <p:spPr>
          <a:xfrm>
            <a:off x="9372600" y="220370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66" name="Rectangle 65"/>
          <p:cNvSpPr/>
          <p:nvPr/>
        </p:nvSpPr>
        <p:spPr>
          <a:xfrm>
            <a:off x="10424160" y="214884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0469880" y="220370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+0.27</a:t>
            </a:r>
          </a:p>
        </p:txBody>
      </p:sp>
      <p:sp>
        <p:nvSpPr>
          <p:cNvPr id="68" name="Rectangle 67"/>
          <p:cNvSpPr/>
          <p:nvPr/>
        </p:nvSpPr>
        <p:spPr>
          <a:xfrm>
            <a:off x="457200" y="2560320"/>
            <a:ext cx="457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TextBox 68"/>
          <p:cNvSpPr txBox="1"/>
          <p:nvPr/>
        </p:nvSpPr>
        <p:spPr>
          <a:xfrm>
            <a:off x="502920" y="261518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4</a:t>
            </a:r>
          </a:p>
        </p:txBody>
      </p:sp>
      <p:sp>
        <p:nvSpPr>
          <p:cNvPr id="70" name="Rectangle 69"/>
          <p:cNvSpPr/>
          <p:nvPr/>
        </p:nvSpPr>
        <p:spPr>
          <a:xfrm>
            <a:off x="914400" y="2560320"/>
            <a:ext cx="13716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TextBox 70"/>
          <p:cNvSpPr txBox="1"/>
          <p:nvPr/>
        </p:nvSpPr>
        <p:spPr>
          <a:xfrm>
            <a:off x="960120" y="261518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TIP</a:t>
            </a:r>
          </a:p>
        </p:txBody>
      </p:sp>
      <p:sp>
        <p:nvSpPr>
          <p:cNvPr id="72" name="Rectangle 71"/>
          <p:cNvSpPr/>
          <p:nvPr/>
        </p:nvSpPr>
        <p:spPr>
          <a:xfrm>
            <a:off x="2286000" y="2560320"/>
            <a:ext cx="21031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TextBox 72"/>
          <p:cNvSpPr txBox="1"/>
          <p:nvPr/>
        </p:nvSpPr>
        <p:spPr>
          <a:xfrm>
            <a:off x="2331720" y="261518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iShares 미국 물가연</a:t>
            </a:r>
          </a:p>
        </p:txBody>
      </p:sp>
      <p:sp>
        <p:nvSpPr>
          <p:cNvPr id="74" name="Rectangle 73"/>
          <p:cNvSpPr/>
          <p:nvPr/>
        </p:nvSpPr>
        <p:spPr>
          <a:xfrm>
            <a:off x="4389120" y="2560320"/>
            <a:ext cx="274320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TextBox 74"/>
          <p:cNvSpPr txBox="1"/>
          <p:nvPr/>
        </p:nvSpPr>
        <p:spPr>
          <a:xfrm>
            <a:off x="4434840" y="261518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Bond ETF (US TIPS)</a:t>
            </a:r>
          </a:p>
        </p:txBody>
      </p:sp>
      <p:sp>
        <p:nvSpPr>
          <p:cNvPr id="76" name="Rectangle 75"/>
          <p:cNvSpPr/>
          <p:nvPr/>
        </p:nvSpPr>
        <p:spPr>
          <a:xfrm>
            <a:off x="713232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TextBox 76"/>
          <p:cNvSpPr txBox="1"/>
          <p:nvPr/>
        </p:nvSpPr>
        <p:spPr>
          <a:xfrm>
            <a:off x="717804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6/7/4</a:t>
            </a:r>
          </a:p>
        </p:txBody>
      </p:sp>
      <p:sp>
        <p:nvSpPr>
          <p:cNvPr id="78" name="Rectangle 77"/>
          <p:cNvSpPr/>
          <p:nvPr/>
        </p:nvSpPr>
        <p:spPr>
          <a:xfrm>
            <a:off x="8595360" y="2560320"/>
            <a:ext cx="73152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TextBox 78"/>
          <p:cNvSpPr txBox="1"/>
          <p:nvPr/>
        </p:nvSpPr>
        <p:spPr>
          <a:xfrm>
            <a:off x="8641080" y="261518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56%</a:t>
            </a:r>
          </a:p>
        </p:txBody>
      </p:sp>
      <p:sp>
        <p:nvSpPr>
          <p:cNvPr id="80" name="Rectangle 79"/>
          <p:cNvSpPr/>
          <p:nvPr/>
        </p:nvSpPr>
        <p:spPr>
          <a:xfrm>
            <a:off x="9326880" y="2560320"/>
            <a:ext cx="109728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TextBox 80"/>
          <p:cNvSpPr txBox="1"/>
          <p:nvPr/>
        </p:nvSpPr>
        <p:spPr>
          <a:xfrm>
            <a:off x="9372600" y="261518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82" name="Rectangle 81"/>
          <p:cNvSpPr/>
          <p:nvPr/>
        </p:nvSpPr>
        <p:spPr>
          <a:xfrm>
            <a:off x="10424160" y="2560320"/>
            <a:ext cx="1463040" cy="3657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TextBox 82"/>
          <p:cNvSpPr txBox="1"/>
          <p:nvPr/>
        </p:nvSpPr>
        <p:spPr>
          <a:xfrm>
            <a:off x="10469880" y="261518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+0.13</a:t>
            </a:r>
          </a:p>
        </p:txBody>
      </p:sp>
      <p:sp>
        <p:nvSpPr>
          <p:cNvPr id="84" name="Rectangle 83"/>
          <p:cNvSpPr/>
          <p:nvPr/>
        </p:nvSpPr>
        <p:spPr>
          <a:xfrm>
            <a:off x="457200" y="2971800"/>
            <a:ext cx="457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TextBox 84"/>
          <p:cNvSpPr txBox="1"/>
          <p:nvPr/>
        </p:nvSpPr>
        <p:spPr>
          <a:xfrm>
            <a:off x="502920" y="3026664"/>
            <a:ext cx="365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</a:t>
            </a:r>
          </a:p>
        </p:txBody>
      </p:sp>
      <p:sp>
        <p:nvSpPr>
          <p:cNvPr id="86" name="Rectangle 85"/>
          <p:cNvSpPr/>
          <p:nvPr/>
        </p:nvSpPr>
        <p:spPr>
          <a:xfrm>
            <a:off x="914400" y="2971800"/>
            <a:ext cx="13716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TextBox 86"/>
          <p:cNvSpPr txBox="1"/>
          <p:nvPr/>
        </p:nvSpPr>
        <p:spPr>
          <a:xfrm>
            <a:off x="960120" y="3026664"/>
            <a:ext cx="12801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TLT</a:t>
            </a:r>
          </a:p>
        </p:txBody>
      </p:sp>
      <p:sp>
        <p:nvSpPr>
          <p:cNvPr id="88" name="Rectangle 87"/>
          <p:cNvSpPr/>
          <p:nvPr/>
        </p:nvSpPr>
        <p:spPr>
          <a:xfrm>
            <a:off x="2286000" y="2971800"/>
            <a:ext cx="21031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2331720" y="3026664"/>
            <a:ext cx="201167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iShares 미국채 20</a:t>
            </a:r>
          </a:p>
        </p:txBody>
      </p:sp>
      <p:sp>
        <p:nvSpPr>
          <p:cNvPr id="90" name="Rectangle 89"/>
          <p:cNvSpPr/>
          <p:nvPr/>
        </p:nvSpPr>
        <p:spPr>
          <a:xfrm>
            <a:off x="4389120" y="2971800"/>
            <a:ext cx="274320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4434840" y="3026664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Bond ETF (US Treasury 20+Y)</a:t>
            </a:r>
          </a:p>
        </p:txBody>
      </p:sp>
      <p:sp>
        <p:nvSpPr>
          <p:cNvPr id="92" name="Rectangle 91"/>
          <p:cNvSpPr/>
          <p:nvPr/>
        </p:nvSpPr>
        <p:spPr>
          <a:xfrm>
            <a:off x="713232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717804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5/5/7</a:t>
            </a:r>
          </a:p>
        </p:txBody>
      </p:sp>
      <p:sp>
        <p:nvSpPr>
          <p:cNvPr id="94" name="Rectangle 93"/>
          <p:cNvSpPr/>
          <p:nvPr/>
        </p:nvSpPr>
        <p:spPr>
          <a:xfrm>
            <a:off x="8595360" y="2971800"/>
            <a:ext cx="73152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TextBox 94"/>
          <p:cNvSpPr txBox="1"/>
          <p:nvPr/>
        </p:nvSpPr>
        <p:spPr>
          <a:xfrm>
            <a:off x="8641080" y="3026664"/>
            <a:ext cx="640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12121"/>
                </a:solidFill>
                <a:latin typeface="Noto Sans CJK KR"/>
              </a:rPr>
              <a:t>56%</a:t>
            </a:r>
          </a:p>
        </p:txBody>
      </p:sp>
      <p:sp>
        <p:nvSpPr>
          <p:cNvPr id="96" name="Rectangle 95"/>
          <p:cNvSpPr/>
          <p:nvPr/>
        </p:nvSpPr>
        <p:spPr>
          <a:xfrm>
            <a:off x="9326880" y="2971800"/>
            <a:ext cx="109728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TextBox 96"/>
          <p:cNvSpPr txBox="1"/>
          <p:nvPr/>
        </p:nvSpPr>
        <p:spPr>
          <a:xfrm>
            <a:off x="9372600" y="3026664"/>
            <a:ext cx="1005839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>
                <a:solidFill>
                  <a:srgbClr val="EF6C00"/>
                </a:solidFill>
                <a:latin typeface="Noto Sans CJK KR"/>
              </a:rPr>
              <a:t>HOLD</a:t>
            </a:r>
          </a:p>
        </p:txBody>
      </p:sp>
      <p:sp>
        <p:nvSpPr>
          <p:cNvPr id="98" name="Rectangle 97"/>
          <p:cNvSpPr/>
          <p:nvPr/>
        </p:nvSpPr>
        <p:spPr>
          <a:xfrm>
            <a:off x="10424160" y="2971800"/>
            <a:ext cx="1463040" cy="365760"/>
          </a:xfrm>
          <a:prstGeom prst="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TextBox 98"/>
          <p:cNvSpPr txBox="1"/>
          <p:nvPr/>
        </p:nvSpPr>
        <p:spPr>
          <a:xfrm>
            <a:off x="10469880" y="3026664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EF6C00"/>
                </a:solidFill>
                <a:latin typeface="Noto Sans CJK KR"/>
              </a:rPr>
              <a:t>-0.10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Portfolio Allocation 권고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2E7D32"/>
                </a:solidFill>
                <a:latin typeface="Noto Sans CJK KR"/>
              </a:rPr>
              <a:t>BUY 종목 (0개)  |  Total target value: ₩0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40080"/>
          </a:xfrm>
          <a:prstGeom prst="rect">
            <a:avLst/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18872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Noto Sans CJK KR"/>
              </a:rPr>
              <a:t>핵심 Risk + 결론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C62828"/>
                </a:solidFill>
                <a:latin typeface="Noto Sans CJK KR"/>
              </a:rPr>
              <a:t>주요 Risk 요인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[453850.KS] 환헤지 비용 상승 (한미 단기금리차 재확대)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[453850.KS] 30년물 5% 돌파 고착 (레드라인 가정 오류)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[453850.KS] 괴리율·유동성 리스크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[IEF] 인상 사이클 장기화 — '원 앤 던'이 아닌 연속 인상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[IEF] 에너지 쇼크의 근원 인플레 2차 전가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E7D32"/>
                </a:solidFill>
                <a:latin typeface="Noto Sans CJK KR"/>
              </a:rPr>
              <a:t>분석 결론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371600"/>
            <a:ext cx="5486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분석 종목 5개: BUY 0 / HOLD 5 / SELL 0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Top pick: SGOV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Layer 1 (per-stock 44p PDF) 참조 권고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분기 thesis 검증 + 가격 monitoring</a:t>
            </a:r>
          </a:p>
          <a:p>
            <a:pPr>
              <a:spcAft>
                <a:spcPts val="400"/>
              </a:spcAft>
            </a:pPr>
            <a:r>
              <a:rPr sz="1200">
                <a:solidFill>
                  <a:srgbClr val="212121"/>
                </a:solidFill>
                <a:latin typeface="Noto Sans CJK KR"/>
              </a:rPr>
              <a:t>• 변동성 30%+ 종목은 분할 매수 권장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6400800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>
                <a:solidFill>
                  <a:srgbClr val="666666"/>
                </a:solidFill>
                <a:latin typeface="Noto Sans CJK KR"/>
              </a:rPr>
              <a:t>본 보고서는 paper portfolio simulation 자료이며 투자 권유가 아닙니다.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