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CJK KR"/>
              </a:rPr>
              <a:t>블로거 분석 — engineerinvestor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engineerinvestor(엔지니어투자자) — AI 서버 고다층 PCB 부족: 층수 곱셈 수율 × 기판 증설(2027 1Q) vs CCL·H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원문: https://blog.naver.com/engineerinvestor/224421689182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발행일: 2026-09-24 | 분석 종목: 5 | 13명 페르소나 + 4-Analyst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Top 3: 🥇 2383.TW EMC(엘리 HOLD (-0.22) | 🥈 5706.T 미쓰이금속 HOLD (-0.20) | 🥉 000150.KS 두산 HOLD (-0.18)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블로거 핵심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56616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1. T01 (core)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고다층 PCB 부족의 병목은 2027년을 기점으로 기판 공장에서 재료(고속 CCL·HVLP 동박) 쪽으로 옮겨가 2028년까지 이어질 가능성이 크다.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35661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2. T02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이수페타시스의 2026년 상반기까지 매출·이익 증가는 생산능력 확대(연환산 +4%, 가동률 96.8%)가 아니라 기판 1㎡ 평균단가 상승(372만 원 → 488만 원, 2년 +31%)에서 나왔고, 2분기 연결 매출 3,799억 원·영업이익 771억 원(OPM 20.3%)을 기록했다.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3566160" cy="5486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3. T04 (core)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AI 서버·스위치 기판의 층수는 신호선 수(예: 토마호크6 SerDes 최대 1,024개, 4천 가닥 이상), 고속 신호의 선 간격 확대, 접지층·전원층 동반 증가 때문에 신호선보다 빠르게 늘어나며, 칩 세대마다 이 요인이 동시에 커지므로 초다층 기판 수요는 구조적이다.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💡 한 줄 요약: AI 서버 고다층 PCB 부족은 기판 공장 증설(2027년 1분기)로 끝나지 않고, 병목이 CCL·고급 동박 등 재료 쪽으로 올라가 2028년까지 이어질 가능성이 크므로 증설 발표보다 ㎡당 단가와 재료 회사 월매출을 봐야 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Top 3 Picks (signal 절대값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2383.TW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EMC(엘리트 머티리얼)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-0.22 · 신뢰도 57%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2 / 중립 8 / 매도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Copper Clad Laminate (High-Spe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[2383.TW] CPO가 스위치 보드 층수·CCL 등급을 낮춤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5706.T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미쓰이금속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-0.20 · 신뢰도 53%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0 / 중립 12 / 매도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Copper Foil (HVLP) / Non-ferro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[5706.T] 말레이시아 VSP 고객 인정 지연 장기화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000150.KS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두산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-0.18 · 신뢰도 55%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2 / 중립 8 / 매도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Holding / Electronic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[000150.KS] 지주 할인 확대·상장 자회사 주가 하락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  <a:latin typeface="Noto Sans CJK KR"/>
              </a:rPr>
              <a:t>📊 Layer 1 (per-stock 44p PDF)에 페르소나별 reasoning 상세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전체 5종목 Verdict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1371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Ticker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91440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96012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종목명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14400"/>
            <a:ext cx="2743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960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Bull/Neu/Bear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914400"/>
            <a:ext cx="7315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960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Conf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914400"/>
            <a:ext cx="109728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9601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3807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32588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3807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000150.KS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32588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38074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두산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32588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380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Holding / Electronic Materials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2/8/7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32588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3807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32588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3807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792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1792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007660.KS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17373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179222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이수페타시스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High-Layer-Count PCB (AI Serve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3/9/5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73736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1792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79222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2203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2383.TW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14884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22037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EMC(엘리트 머티리얼)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2203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Copper Clad Laminate (High-Spe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7804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2/8/7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14884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22037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57%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214884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220370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6988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56032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615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353200.KS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256032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1720" y="26151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대덕전자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25603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26151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Package Substrate (FC-BGA) / 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1/10/6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95360" y="256032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26151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52%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6880" y="256032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72600" y="26151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416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698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3026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0120" y="3026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5706.T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297180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1720" y="302666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미쓰이금속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89120" y="297180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3484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Copper Foil (HVLP) / Non-ferro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3232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7804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0/12/5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7180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41080" y="30266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97180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72600" y="3026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2416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6988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Portfolio Allocation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Noto Sans CJK KR"/>
              </a:rPr>
              <a:t>BUY 종목 (0개)  |  Total target value: ₩0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핵심 Risk +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Noto Sans CJK KR"/>
              </a:rPr>
              <a:t>주요 Risk 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[000150.KS] 지주 할인 확대·상장 자회사 주가 하락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[000150.KS] 단기 급등 후 밸류에이션 부담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[000150.KS] 증설 시점(2H28) vs 수요·공급 사이클 엇갈림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[007660.KS] 최대 고객 집중(매출 약 40%)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[007660.KS] 신규 멀티램 라인 수율 램프(6공장·태국)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Noto Sans CJK KR"/>
              </a:rPr>
              <a:t>분석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분석 종목 5개: BUY 0 / HOLD 5 / SELL 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Top pick: 2383.TW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Layer 1 (per-stock 44p PDF) 참조 권고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분기 thesis 검증 + 가격 monitoring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변동성 30%+ 종목은 분할 매수 권장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Noto Sans CJK KR"/>
              </a:rPr>
              <a:t>본 보고서는 paper portfolio simulation 자료이며 투자 권유가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